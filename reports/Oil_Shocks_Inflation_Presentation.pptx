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78" r:id="rId6"/>
    <p:sldId id="258" r:id="rId7"/>
    <p:sldId id="281" r:id="rId8"/>
    <p:sldId id="28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0655" autoAdjust="0"/>
  </p:normalViewPr>
  <p:slideViewPr>
    <p:cSldViewPr snapToGrid="0">
      <p:cViewPr varScale="1">
        <p:scale>
          <a:sx n="78" d="100"/>
          <a:sy n="78" d="100"/>
        </p:scale>
        <p:origin x="1056" y="84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09-Oct-24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09-Oct-24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8215715-F8DF-1A0B-407C-94CB74909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03" y="4474496"/>
            <a:ext cx="11473593" cy="1455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Varying Data Frequency and Short Run Inflationary Impact of Oil Price Shocks in US Inflation Forecasts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Farooq, Umer and MPI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Date: 09-Oct-2024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CDA5DFEF-F10D-41DF-80ED-8FC880B47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227" y="1085447"/>
            <a:ext cx="1183777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Inflation forecasting is critical for economic policymaking and business planning. However, there is extreme volatility in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paper examines the short-run effects of oil price shocks on US inflation forecasts using ARIMA and VAR models during volatile supply shocks.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brief history of Oil Shocks</a:t>
            </a:r>
          </a:p>
        </p:txBody>
      </p:sp>
      <p:pic>
        <p:nvPicPr>
          <p:cNvPr id="6" name="Picture 5" descr="A graph with red lines&#10;&#10;Description automatically generated">
            <a:extLst>
              <a:ext uri="{FF2B5EF4-FFF2-40B4-BE49-F238E27FC236}">
                <a16:creationId xmlns:a16="http://schemas.microsoft.com/office/drawing/2014/main" id="{E63D927C-9089-9DB2-A514-91A1A2728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334" y="3032878"/>
            <a:ext cx="6767385" cy="382512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E9C139-12F7-8EB6-F121-5BBFAF54DDB5}"/>
              </a:ext>
            </a:extLst>
          </p:cNvPr>
          <p:cNvSpPr txBox="1"/>
          <p:nvPr/>
        </p:nvSpPr>
        <p:spPr>
          <a:xfrm>
            <a:off x="469557" y="284205"/>
            <a:ext cx="108913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A7A20D2-D096-1566-AED6-D48B07C65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920" y="1329432"/>
            <a:ext cx="851380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Data: CPI, Oil Prices, GDP, Inflation Expectations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CPI: Monthly, from Bureau of Labor Statistics (BLS)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Oil Prices: Daily, aggregated to monthly from Energy Information Administration (EIA)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GDP: Quarterly, interpolated to monthly from World Bank &amp; FRED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Inflation Expectations: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FED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8F4D89D-D973-E20A-B7FA-ED916A40E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920" y="3808434"/>
            <a:ext cx="1106433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ARIMA and VAR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ARIMA Equation: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 Equation: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E0EE8C-CA9F-8006-B0BD-5E078F5F7E82}"/>
              </a:ext>
            </a:extLst>
          </p:cNvPr>
          <p:cNvSpPr txBox="1"/>
          <p:nvPr/>
        </p:nvSpPr>
        <p:spPr>
          <a:xfrm>
            <a:off x="469557" y="284205"/>
            <a:ext cx="108913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Data and Models</a:t>
            </a:r>
          </a:p>
        </p:txBody>
      </p:sp>
      <p:pic>
        <p:nvPicPr>
          <p:cNvPr id="11" name="Picture 10" descr="A math equation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888BB9AD-FF4D-C1CE-52FC-923D9B4A3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845" y="3576201"/>
            <a:ext cx="4319299" cy="871988"/>
          </a:xfrm>
          <a:prstGeom prst="rect">
            <a:avLst/>
          </a:prstGeom>
        </p:spPr>
      </p:pic>
      <p:pic>
        <p:nvPicPr>
          <p:cNvPr id="12" name="Picture 11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4545B463-AD0D-FD0E-7C9B-F78660A2F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044" y="4836517"/>
            <a:ext cx="57531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420" y="210666"/>
            <a:ext cx="8420100" cy="963277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Results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A1F33731-EE34-9119-F554-9F53FD2B0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25" y="1331975"/>
            <a:ext cx="1189955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ARIMA Model Results: Good performance under stable conditions but struggled with oil price shocks.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 Model Results: More accurate in capturing the dynamic relationship between oil prices, GDP, and inflation.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Impulse Response Functions (IRFs) show how oil price shocks lead to short-term inflation spikes, which dissipate over 12 months. </a:t>
            </a:r>
          </a:p>
        </p:txBody>
      </p:sp>
      <p:pic>
        <p:nvPicPr>
          <p:cNvPr id="15" name="Picture 14" descr="A graph of impact on oil price shock&#10;&#10;Description automatically generated">
            <a:extLst>
              <a:ext uri="{FF2B5EF4-FFF2-40B4-BE49-F238E27FC236}">
                <a16:creationId xmlns:a16="http://schemas.microsoft.com/office/drawing/2014/main" id="{96BF4687-66BC-8087-05A2-88DCB38D9D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25" y="3393121"/>
            <a:ext cx="3705225" cy="3145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45E3D11-3A45-D419-E0F5-8185C2597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300" y="3420217"/>
            <a:ext cx="4937548" cy="3145790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45912A4-594F-95E9-1A30-3FB16E47D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01039"/>
              </p:ext>
            </p:extLst>
          </p:nvPr>
        </p:nvGraphicFramePr>
        <p:xfrm>
          <a:off x="8979291" y="3428999"/>
          <a:ext cx="3076784" cy="26628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4450">
                  <a:extLst>
                    <a:ext uri="{9D8B030D-6E8A-4147-A177-3AD203B41FA5}">
                      <a16:colId xmlns:a16="http://schemas.microsoft.com/office/drawing/2014/main" val="1031279464"/>
                    </a:ext>
                  </a:extLst>
                </a:gridCol>
                <a:gridCol w="659974">
                  <a:extLst>
                    <a:ext uri="{9D8B030D-6E8A-4147-A177-3AD203B41FA5}">
                      <a16:colId xmlns:a16="http://schemas.microsoft.com/office/drawing/2014/main" val="3108167369"/>
                    </a:ext>
                  </a:extLst>
                </a:gridCol>
                <a:gridCol w="446180">
                  <a:extLst>
                    <a:ext uri="{9D8B030D-6E8A-4147-A177-3AD203B41FA5}">
                      <a16:colId xmlns:a16="http://schemas.microsoft.com/office/drawing/2014/main" val="1116196834"/>
                    </a:ext>
                  </a:extLst>
                </a:gridCol>
                <a:gridCol w="446180">
                  <a:extLst>
                    <a:ext uri="{9D8B030D-6E8A-4147-A177-3AD203B41FA5}">
                      <a16:colId xmlns:a16="http://schemas.microsoft.com/office/drawing/2014/main" val="3047467713"/>
                    </a:ext>
                  </a:extLst>
                </a:gridCol>
              </a:tblGrid>
              <a:tr h="5680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Variable</a:t>
                      </a:r>
                      <a:endParaRPr lang="en-US" sz="1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Coefficient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t-value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p-value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75815413"/>
                  </a:ext>
                </a:extLst>
              </a:tr>
              <a:tr h="37617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Constant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c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1.35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0.022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39742853"/>
                  </a:ext>
                </a:extLst>
              </a:tr>
              <a:tr h="37617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Oil Prices (lag 1)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A1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0.52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0.004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2230386"/>
                  </a:ext>
                </a:extLst>
              </a:tr>
              <a:tr h="37617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Oil Prices (lag 2)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A2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0.33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0.016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68812161"/>
                  </a:ext>
                </a:extLst>
              </a:tr>
              <a:tr h="37617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GDP (lag 1)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A3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0.27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0.021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35514997"/>
                  </a:ext>
                </a:extLst>
              </a:tr>
              <a:tr h="37617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GDP (lag 2)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A4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0.12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0.033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84331727"/>
                  </a:ext>
                </a:extLst>
              </a:tr>
              <a:tr h="21396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R-squared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0.93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60953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346" y="249650"/>
            <a:ext cx="9953308" cy="973669"/>
          </a:xfrm>
        </p:spPr>
        <p:txBody>
          <a:bodyPr/>
          <a:lstStyle/>
          <a:p>
            <a:r>
              <a:rPr lang="en-US" dirty="0"/>
              <a:t>Conclusion and Future Research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D79DBD4B-59D8-A4B1-1F8D-33E9FAFC0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389" y="1600909"/>
            <a:ext cx="1119522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VAR model outperformed ARIMA in forecasting inflation during periods of oil price volatility.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Nowcasting uses real-time data to predict current economic activity and inflation trends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</a:t>
            </a:r>
            <a:r>
              <a:rPr lang="en-US" sz="20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This includes real-time trading information, interest rates, and bond yields along with high-frequency commodity prices, oil, metals, and agricultural prices data on a daily or weekly basis. 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 Future Research: Explore hybrid models combining ARIMA, VAR, and Machine Learning techniques for more responsive inflation forecasts. 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{0BEF55D9-E88D-4766-B920-63A06F666D89}tf67328976_win32</Template>
  <TotalTime>74</TotalTime>
  <Words>354</Words>
  <Application>Microsoft Office PowerPoint</Application>
  <PresentationFormat>Widescreen</PresentationFormat>
  <Paragraphs>65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Calibri</vt:lpstr>
      <vt:lpstr>Tenorite</vt:lpstr>
      <vt:lpstr>Times New Roman</vt:lpstr>
      <vt:lpstr>Custom</vt:lpstr>
      <vt:lpstr>PowerPoint Presentation</vt:lpstr>
      <vt:lpstr>PowerPoint Presentation</vt:lpstr>
      <vt:lpstr>PowerPoint Presentation</vt:lpstr>
      <vt:lpstr>Results</vt:lpstr>
      <vt:lpstr>Conclusion and Future Research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Umer Farooq</dc:creator>
  <cp:lastModifiedBy>Umer Farooq</cp:lastModifiedBy>
  <cp:revision>28</cp:revision>
  <dcterms:created xsi:type="dcterms:W3CDTF">2024-10-09T04:14:50Z</dcterms:created>
  <dcterms:modified xsi:type="dcterms:W3CDTF">2024-10-09T05:29:30Z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